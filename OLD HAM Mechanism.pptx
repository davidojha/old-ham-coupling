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ileron Bold" charset="1" panose="00000800000000000000"/>
      <p:regular r:id="rId21"/>
    </p:embeddedFont>
    <p:embeddedFont>
      <p:font typeface="Koho" charset="1" panose="00000500000000000000"/>
      <p:regular r:id="rId22"/>
    </p:embeddedFont>
    <p:embeddedFont>
      <p:font typeface="Aileron" charset="1" panose="00000500000000000000"/>
      <p:regular r:id="rId23"/>
    </p:embeddedFont>
    <p:embeddedFont>
      <p:font typeface="Koho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jpeg" Type="http://schemas.openxmlformats.org/officeDocument/2006/relationships/image"/><Relationship Id="rId15" Target="../media/VAHRS14TULA.mp4" Type="http://schemas.openxmlformats.org/officeDocument/2006/relationships/video"/><Relationship Id="rId16" Target="../media/VAHRS14TULA.mp4" Type="http://schemas.microsoft.com/office/2007/relationships/media"/><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4.jpe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jpe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6.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7.png" Type="http://schemas.openxmlformats.org/officeDocument/2006/relationships/image"/><Relationship Id="rId15" Target="../media/image1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TextBox 10" id="10"/>
          <p:cNvSpPr txBox="true"/>
          <p:nvPr/>
        </p:nvSpPr>
        <p:spPr>
          <a:xfrm rot="0">
            <a:off x="1028700" y="2516455"/>
            <a:ext cx="16230600" cy="2755871"/>
          </a:xfrm>
          <a:prstGeom prst="rect">
            <a:avLst/>
          </a:prstGeom>
        </p:spPr>
        <p:txBody>
          <a:bodyPr anchor="t" rtlCol="false" tIns="0" lIns="0" bIns="0" rIns="0">
            <a:spAutoFit/>
          </a:bodyPr>
          <a:lstStyle/>
          <a:p>
            <a:pPr algn="ctr">
              <a:lnSpc>
                <a:spcPts val="10406"/>
              </a:lnSpc>
            </a:pPr>
            <a:r>
              <a:rPr lang="en-US" b="true" sz="11692">
                <a:solidFill>
                  <a:srgbClr val="000000"/>
                </a:solidFill>
                <a:latin typeface="Aileron Bold"/>
                <a:ea typeface="Aileron Bold"/>
                <a:cs typeface="Aileron Bold"/>
                <a:sym typeface="Aileron Bold"/>
              </a:rPr>
              <a:t>OLD HAM COUPLING MECHANISM</a:t>
            </a:r>
          </a:p>
        </p:txBody>
      </p:sp>
      <p:sp>
        <p:nvSpPr>
          <p:cNvPr name="Freeform 11" id="11"/>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2" id="12"/>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2937171" y="7480942"/>
            <a:ext cx="3431073" cy="1359277"/>
          </a:xfrm>
          <a:prstGeom prst="rect">
            <a:avLst/>
          </a:prstGeom>
        </p:spPr>
        <p:txBody>
          <a:bodyPr anchor="t" rtlCol="false" tIns="0" lIns="0" bIns="0" rIns="0">
            <a:spAutoFit/>
          </a:bodyPr>
          <a:lstStyle/>
          <a:p>
            <a:pPr algn="l">
              <a:lnSpc>
                <a:spcPts val="2746"/>
              </a:lnSpc>
            </a:pPr>
            <a:r>
              <a:rPr lang="en-US" sz="1962">
                <a:solidFill>
                  <a:srgbClr val="000000"/>
                </a:solidFill>
                <a:latin typeface="Koho"/>
                <a:ea typeface="Koho"/>
                <a:cs typeface="Koho"/>
                <a:sym typeface="Koho"/>
              </a:rPr>
              <a:t>Presenting by:</a:t>
            </a:r>
          </a:p>
          <a:p>
            <a:pPr algn="l">
              <a:lnSpc>
                <a:spcPts val="2746"/>
              </a:lnSpc>
            </a:pPr>
            <a:r>
              <a:rPr lang="en-US" sz="1962">
                <a:solidFill>
                  <a:srgbClr val="000000"/>
                </a:solidFill>
                <a:latin typeface="Koho"/>
                <a:ea typeface="Koho"/>
                <a:cs typeface="Koho"/>
                <a:sym typeface="Koho"/>
              </a:rPr>
              <a:t>David Ojha</a:t>
            </a:r>
          </a:p>
          <a:p>
            <a:pPr algn="l">
              <a:lnSpc>
                <a:spcPts val="2746"/>
              </a:lnSpc>
            </a:pPr>
            <a:r>
              <a:rPr lang="en-US" sz="1962">
                <a:solidFill>
                  <a:srgbClr val="000000"/>
                </a:solidFill>
                <a:latin typeface="Koho"/>
                <a:ea typeface="Koho"/>
                <a:cs typeface="Koho"/>
                <a:sym typeface="Koho"/>
              </a:rPr>
              <a:t>Apar Jung Thapa</a:t>
            </a:r>
          </a:p>
          <a:p>
            <a:pPr algn="just">
              <a:lnSpc>
                <a:spcPts val="2746"/>
              </a:lnSpc>
            </a:pPr>
            <a:r>
              <a:rPr lang="en-US" sz="1962">
                <a:solidFill>
                  <a:srgbClr val="000000"/>
                </a:solidFill>
                <a:latin typeface="Koho"/>
                <a:ea typeface="Koho"/>
                <a:cs typeface="Koho"/>
                <a:sym typeface="Koho"/>
              </a:rPr>
              <a:t>Sirish Shrestha</a:t>
            </a:r>
          </a:p>
        </p:txBody>
      </p:sp>
      <p:sp>
        <p:nvSpPr>
          <p:cNvPr name="Freeform 14" id="14"/>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11496850" y="7480942"/>
            <a:ext cx="3431073" cy="669008"/>
          </a:xfrm>
          <a:prstGeom prst="rect">
            <a:avLst/>
          </a:prstGeom>
        </p:spPr>
        <p:txBody>
          <a:bodyPr anchor="t" rtlCol="false" tIns="0" lIns="0" bIns="0" rIns="0">
            <a:spAutoFit/>
          </a:bodyPr>
          <a:lstStyle/>
          <a:p>
            <a:pPr algn="l">
              <a:lnSpc>
                <a:spcPts val="2746"/>
              </a:lnSpc>
            </a:pPr>
            <a:r>
              <a:rPr lang="en-US" sz="1962">
                <a:solidFill>
                  <a:srgbClr val="000000"/>
                </a:solidFill>
                <a:latin typeface="Koho"/>
                <a:ea typeface="Koho"/>
                <a:cs typeface="Koho"/>
                <a:sym typeface="Koho"/>
              </a:rPr>
              <a:t>Presenting To:</a:t>
            </a:r>
          </a:p>
          <a:p>
            <a:pPr algn="l">
              <a:lnSpc>
                <a:spcPts val="2746"/>
              </a:lnSpc>
            </a:pPr>
            <a:r>
              <a:rPr lang="en-US" sz="1962">
                <a:solidFill>
                  <a:srgbClr val="000000"/>
                </a:solidFill>
                <a:latin typeface="Koho"/>
                <a:ea typeface="Koho"/>
                <a:cs typeface="Koho"/>
                <a:sym typeface="Koho"/>
              </a:rPr>
              <a:t>Associate. Prof. Binaya Kc</a:t>
            </a:r>
          </a:p>
        </p:txBody>
      </p:sp>
      <p:sp>
        <p:nvSpPr>
          <p:cNvPr name="TextBox 16" id="16"/>
          <p:cNvSpPr txBox="true"/>
          <p:nvPr/>
        </p:nvSpPr>
        <p:spPr>
          <a:xfrm rot="0">
            <a:off x="8017840" y="5301383"/>
            <a:ext cx="2252320" cy="323874"/>
          </a:xfrm>
          <a:prstGeom prst="rect">
            <a:avLst/>
          </a:prstGeom>
        </p:spPr>
        <p:txBody>
          <a:bodyPr anchor="t" rtlCol="false" tIns="0" lIns="0" bIns="0" rIns="0">
            <a:spAutoFit/>
          </a:bodyPr>
          <a:lstStyle/>
          <a:p>
            <a:pPr algn="l">
              <a:lnSpc>
                <a:spcPts val="2746"/>
              </a:lnSpc>
            </a:pPr>
            <a:r>
              <a:rPr lang="en-US" sz="1962">
                <a:solidFill>
                  <a:srgbClr val="000000"/>
                </a:solidFill>
                <a:latin typeface="Koho"/>
                <a:ea typeface="Koho"/>
                <a:cs typeface="Koho"/>
                <a:sym typeface="Koho"/>
              </a:rPr>
              <a:t>TOM MINI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pic>
        <p:nvPicPr>
          <p:cNvPr name="Picture 13" id="13">
            <a:hlinkClick action="ppaction://media"/>
          </p:cNvPr>
          <p:cNvPicPr>
            <a:picLocks noChangeAspect="true"/>
          </p:cNvPicPr>
          <p:nvPr>
            <a:videoFile r:link="rId15"/>
            <p:extLst>
              <p:ext uri="{DAA4B4D4-6D71-4841-9C94-3DE7FCFB9230}">
                <p14:media xmlns:p14="http://schemas.microsoft.com/office/powerpoint/2010/main" r:embed="rId16"/>
              </p:ext>
            </p:extLst>
          </p:nvPr>
        </p:nvPicPr>
        <p:blipFill>
          <a:blip r:embed="rId14"/>
          <a:srcRect l="6819" t="0" r="6959" b="0"/>
          <a:stretch>
            <a:fillRect/>
          </a:stretch>
        </p:blipFill>
        <p:spPr>
          <a:xfrm flipH="false" flipV="false" rot="0">
            <a:off x="12585055" y="3304273"/>
            <a:ext cx="4674245" cy="3049419"/>
          </a:xfrm>
          <a:prstGeom prst="rect">
            <a:avLst/>
          </a:prstGeom>
        </p:spPr>
      </p:pic>
      <p:sp>
        <p:nvSpPr>
          <p:cNvPr name="TextBox 14" id="14"/>
          <p:cNvSpPr txBox="true"/>
          <p:nvPr/>
        </p:nvSpPr>
        <p:spPr>
          <a:xfrm rot="0">
            <a:off x="4897351" y="1939476"/>
            <a:ext cx="8493297"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BACKGROUND</a:t>
            </a:r>
          </a:p>
        </p:txBody>
      </p:sp>
      <p:sp>
        <p:nvSpPr>
          <p:cNvPr name="TextBox 15" id="15"/>
          <p:cNvSpPr txBox="true"/>
          <p:nvPr/>
        </p:nvSpPr>
        <p:spPr>
          <a:xfrm rot="0">
            <a:off x="1942109" y="5734109"/>
            <a:ext cx="12371487" cy="278574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Koho"/>
                <a:ea typeface="Koho"/>
                <a:cs typeface="Koho"/>
                <a:sym typeface="Koho"/>
              </a:rPr>
              <a:t>It is used to connect two parallel shafts with slight lateral misalignment.</a:t>
            </a:r>
          </a:p>
          <a:p>
            <a:pPr algn="just" marL="690881" indent="-345440" lvl="1">
              <a:lnSpc>
                <a:spcPts val="4480"/>
              </a:lnSpc>
              <a:buFont typeface="Arial"/>
              <a:buChar char="•"/>
            </a:pPr>
            <a:r>
              <a:rPr lang="en-US" sz="3200">
                <a:solidFill>
                  <a:srgbClr val="000000"/>
                </a:solidFill>
                <a:latin typeface="Koho"/>
                <a:ea typeface="Koho"/>
                <a:cs typeface="Koho"/>
                <a:sym typeface="Koho"/>
              </a:rPr>
              <a:t>Provides a constant 1:1 angular velocity ratio.</a:t>
            </a:r>
          </a:p>
          <a:p>
            <a:pPr algn="just" marL="690881" indent="-345440" lvl="1">
              <a:lnSpc>
                <a:spcPts val="4480"/>
              </a:lnSpc>
              <a:buFont typeface="Arial"/>
              <a:buChar char="•"/>
            </a:pPr>
            <a:r>
              <a:rPr lang="en-US" sz="3200">
                <a:solidFill>
                  <a:srgbClr val="000000"/>
                </a:solidFill>
                <a:latin typeface="Koho"/>
                <a:ea typeface="Koho"/>
                <a:cs typeface="Koho"/>
                <a:sym typeface="Koho"/>
              </a:rPr>
              <a:t>Consists of two flanges and a floating intermediate disc.</a:t>
            </a:r>
          </a:p>
          <a:p>
            <a:pPr algn="just" marL="690881" indent="-345440" lvl="1">
              <a:lnSpc>
                <a:spcPts val="4480"/>
              </a:lnSpc>
              <a:buFont typeface="Arial"/>
              <a:buChar char="•"/>
            </a:pPr>
            <a:r>
              <a:rPr lang="en-US" sz="3200">
                <a:solidFill>
                  <a:srgbClr val="000000"/>
                </a:solidFill>
                <a:latin typeface="Koho"/>
                <a:ea typeface="Koho"/>
                <a:cs typeface="Koho"/>
                <a:sym typeface="Koho"/>
              </a:rPr>
              <a:t>Commonly used where accurate power transmission is required.</a:t>
            </a:r>
          </a:p>
        </p:txBody>
      </p:sp>
      <p:sp>
        <p:nvSpPr>
          <p:cNvPr name="TextBox 16" id="16"/>
          <p:cNvSpPr txBox="true"/>
          <p:nvPr/>
        </p:nvSpPr>
        <p:spPr>
          <a:xfrm rot="0">
            <a:off x="1299269" y="3247123"/>
            <a:ext cx="11448540" cy="2223770"/>
          </a:xfrm>
          <a:prstGeom prst="rect">
            <a:avLst/>
          </a:prstGeom>
        </p:spPr>
        <p:txBody>
          <a:bodyPr anchor="t" rtlCol="false" tIns="0" lIns="0" bIns="0" rIns="0">
            <a:spAutoFit/>
          </a:bodyPr>
          <a:lstStyle/>
          <a:p>
            <a:pPr algn="l">
              <a:lnSpc>
                <a:spcPts val="4480"/>
              </a:lnSpc>
            </a:pPr>
            <a:r>
              <a:rPr lang="en-US" sz="3200">
                <a:solidFill>
                  <a:srgbClr val="000000"/>
                </a:solidFill>
                <a:latin typeface="Koho"/>
                <a:ea typeface="Koho"/>
                <a:cs typeface="Koho"/>
                <a:sym typeface="Koho"/>
              </a:rPr>
              <a:t>Oldham's Coupling was invented by the Irish engineer John Oldham. It is a mechanical coupling used to connect two parallel shafts that have slight lateral misalignment while maintaining constant rotational speed.</a:t>
            </a:r>
          </a:p>
        </p:txBody>
      </p:sp>
    </p:spTree>
  </p:cSld>
  <p:clrMapOvr>
    <a:masterClrMapping/>
  </p:clrMapOvr>
  <p:timing>
    <p:tnLst>
      <p:par>
        <p:cTn dur="indefinite" restart="never" nodeType="tmRoot">
          <p:childTnLst>
            <p:video>
              <p:cMediaNode vol="0">
                <p:cTn fill="hold" display="false">
                  <p:stCondLst>
                    <p:cond delay="indefinite"/>
                  </p:stCondLst>
                </p:cTn>
                <p:tgtEl>
                  <p:spTgt spid="13"/>
                </p:tgtEl>
              </p:cMediaNode>
            </p:video>
          </p:childTnLst>
        </p:cTn>
      </p:par>
    </p:tnLst>
  </p:timing>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2079015"/>
            <a:ext cx="8493297"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OBJECTIVES</a:t>
            </a:r>
          </a:p>
        </p:txBody>
      </p:sp>
      <p:sp>
        <p:nvSpPr>
          <p:cNvPr name="TextBox 14" id="14"/>
          <p:cNvSpPr txBox="true"/>
          <p:nvPr/>
        </p:nvSpPr>
        <p:spPr>
          <a:xfrm rot="0">
            <a:off x="3123882" y="3737502"/>
            <a:ext cx="11419799" cy="5464217"/>
          </a:xfrm>
          <a:prstGeom prst="rect">
            <a:avLst/>
          </a:prstGeom>
        </p:spPr>
        <p:txBody>
          <a:bodyPr anchor="t" rtlCol="false" tIns="0" lIns="0" bIns="0" rIns="0">
            <a:spAutoFit/>
          </a:bodyPr>
          <a:lstStyle/>
          <a:p>
            <a:pPr algn="l" marL="836258" indent="-418129" lvl="1">
              <a:lnSpc>
                <a:spcPts val="5422"/>
              </a:lnSpc>
              <a:buFont typeface="Arial"/>
              <a:buChar char="•"/>
            </a:pPr>
            <a:r>
              <a:rPr lang="en-US" sz="3873">
                <a:solidFill>
                  <a:srgbClr val="000000"/>
                </a:solidFill>
                <a:latin typeface="Koho"/>
                <a:ea typeface="Koho"/>
                <a:cs typeface="Koho"/>
                <a:sym typeface="Koho"/>
              </a:rPr>
              <a:t>Study the working principle and kinematics of Oldham's Coupling.</a:t>
            </a:r>
          </a:p>
          <a:p>
            <a:pPr algn="l" marL="836258" indent="-418129" lvl="1">
              <a:lnSpc>
                <a:spcPts val="5422"/>
              </a:lnSpc>
              <a:buFont typeface="Arial"/>
              <a:buChar char="•"/>
            </a:pPr>
            <a:r>
              <a:rPr lang="en-US" sz="3873">
                <a:solidFill>
                  <a:srgbClr val="000000"/>
                </a:solidFill>
                <a:latin typeface="Koho"/>
                <a:ea typeface="Koho"/>
                <a:cs typeface="Koho"/>
                <a:sym typeface="Koho"/>
              </a:rPr>
              <a:t>Design the geometry and dimensions of the coupling.</a:t>
            </a:r>
          </a:p>
          <a:p>
            <a:pPr algn="l" marL="836258" indent="-418129" lvl="1">
              <a:lnSpc>
                <a:spcPts val="5422"/>
              </a:lnSpc>
              <a:buFont typeface="Arial"/>
              <a:buChar char="•"/>
            </a:pPr>
            <a:r>
              <a:rPr lang="en-US" sz="3873">
                <a:solidFill>
                  <a:srgbClr val="000000"/>
                </a:solidFill>
                <a:latin typeface="Koho"/>
                <a:ea typeface="Koho"/>
                <a:cs typeface="Koho"/>
                <a:sym typeface="Koho"/>
              </a:rPr>
              <a:t>Fabricate a functional prototype.</a:t>
            </a:r>
          </a:p>
          <a:p>
            <a:pPr algn="l" marL="836258" indent="-418129" lvl="1">
              <a:lnSpc>
                <a:spcPts val="5422"/>
              </a:lnSpc>
              <a:buFont typeface="Arial"/>
              <a:buChar char="•"/>
            </a:pPr>
            <a:r>
              <a:rPr lang="en-US" sz="3873">
                <a:solidFill>
                  <a:srgbClr val="000000"/>
                </a:solidFill>
                <a:latin typeface="Koho"/>
                <a:ea typeface="Koho"/>
                <a:cs typeface="Koho"/>
                <a:sym typeface="Koho"/>
              </a:rPr>
              <a:t>Evaluate its ability to accommodate parallel shaft misalignment.</a:t>
            </a:r>
          </a:p>
          <a:p>
            <a:pPr algn="l">
              <a:lnSpc>
                <a:spcPts val="542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2026332"/>
            <a:ext cx="8493297"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APPLICATIONS</a:t>
            </a:r>
          </a:p>
        </p:txBody>
      </p:sp>
      <p:sp>
        <p:nvSpPr>
          <p:cNvPr name="TextBox 14" id="14"/>
          <p:cNvSpPr txBox="true"/>
          <p:nvPr/>
        </p:nvSpPr>
        <p:spPr>
          <a:xfrm rot="0">
            <a:off x="3184758" y="3642013"/>
            <a:ext cx="13214682" cy="4909036"/>
          </a:xfrm>
          <a:prstGeom prst="rect">
            <a:avLst/>
          </a:prstGeom>
        </p:spPr>
        <p:txBody>
          <a:bodyPr anchor="t" rtlCol="false" tIns="0" lIns="0" bIns="0" rIns="0">
            <a:spAutoFit/>
          </a:bodyPr>
          <a:lstStyle/>
          <a:p>
            <a:pPr algn="l" marL="859466" indent="-429733" lvl="1">
              <a:lnSpc>
                <a:spcPts val="5573"/>
              </a:lnSpc>
              <a:buFont typeface="Arial"/>
              <a:buChar char="•"/>
            </a:pPr>
            <a:r>
              <a:rPr lang="en-US" sz="3980">
                <a:solidFill>
                  <a:srgbClr val="000000"/>
                </a:solidFill>
                <a:latin typeface="Aileron"/>
                <a:ea typeface="Aileron"/>
                <a:cs typeface="Aileron"/>
                <a:sym typeface="Aileron"/>
              </a:rPr>
              <a:t>CNC machines</a:t>
            </a:r>
          </a:p>
          <a:p>
            <a:pPr algn="l" marL="859466" indent="-429733" lvl="1">
              <a:lnSpc>
                <a:spcPts val="5573"/>
              </a:lnSpc>
              <a:buFont typeface="Arial"/>
              <a:buChar char="•"/>
            </a:pPr>
            <a:r>
              <a:rPr lang="en-US" sz="3980">
                <a:solidFill>
                  <a:srgbClr val="000000"/>
                </a:solidFill>
                <a:latin typeface="Aileron"/>
                <a:ea typeface="Aileron"/>
                <a:cs typeface="Aileron"/>
                <a:sym typeface="Aileron"/>
              </a:rPr>
              <a:t>Servo motor and lead screw systems</a:t>
            </a:r>
          </a:p>
          <a:p>
            <a:pPr algn="l" marL="859466" indent="-429733" lvl="1">
              <a:lnSpc>
                <a:spcPts val="5573"/>
              </a:lnSpc>
              <a:buFont typeface="Arial"/>
              <a:buChar char="•"/>
            </a:pPr>
            <a:r>
              <a:rPr lang="en-US" sz="3980">
                <a:solidFill>
                  <a:srgbClr val="000000"/>
                </a:solidFill>
                <a:latin typeface="Aileron"/>
                <a:ea typeface="Aileron"/>
                <a:cs typeface="Aileron"/>
                <a:sym typeface="Aileron"/>
              </a:rPr>
              <a:t>Robotic mechanisms</a:t>
            </a:r>
          </a:p>
          <a:p>
            <a:pPr algn="l" marL="859466" indent="-429733" lvl="1">
              <a:lnSpc>
                <a:spcPts val="5573"/>
              </a:lnSpc>
              <a:buFont typeface="Arial"/>
              <a:buChar char="•"/>
            </a:pPr>
            <a:r>
              <a:rPr lang="en-US" sz="3980">
                <a:solidFill>
                  <a:srgbClr val="000000"/>
                </a:solidFill>
                <a:latin typeface="Aileron"/>
                <a:ea typeface="Aileron"/>
                <a:cs typeface="Aileron"/>
                <a:sym typeface="Aileron"/>
              </a:rPr>
              <a:t>Printing machines</a:t>
            </a:r>
          </a:p>
          <a:p>
            <a:pPr algn="l" marL="859466" indent="-429733" lvl="1">
              <a:lnSpc>
                <a:spcPts val="5573"/>
              </a:lnSpc>
              <a:buFont typeface="Arial"/>
              <a:buChar char="•"/>
            </a:pPr>
            <a:r>
              <a:rPr lang="en-US" sz="3980">
                <a:solidFill>
                  <a:srgbClr val="000000"/>
                </a:solidFill>
                <a:latin typeface="Aileron"/>
                <a:ea typeface="Aileron"/>
                <a:cs typeface="Aileron"/>
                <a:sym typeface="Aileron"/>
              </a:rPr>
              <a:t>Textile machinery</a:t>
            </a:r>
          </a:p>
          <a:p>
            <a:pPr algn="l" marL="859466" indent="-429733" lvl="1">
              <a:lnSpc>
                <a:spcPts val="5573"/>
              </a:lnSpc>
              <a:buFont typeface="Arial"/>
              <a:buChar char="•"/>
            </a:pPr>
            <a:r>
              <a:rPr lang="en-US" sz="3980">
                <a:solidFill>
                  <a:srgbClr val="000000"/>
                </a:solidFill>
                <a:latin typeface="Aileron"/>
                <a:ea typeface="Aileron"/>
                <a:cs typeface="Aileron"/>
                <a:sym typeface="Aileron"/>
              </a:rPr>
              <a:t>Precision measurement systems</a:t>
            </a:r>
          </a:p>
          <a:p>
            <a:pPr algn="l" marL="859466" indent="-429733" lvl="1">
              <a:lnSpc>
                <a:spcPts val="5573"/>
              </a:lnSpc>
              <a:buFont typeface="Arial"/>
              <a:buChar char="•"/>
            </a:pPr>
            <a:r>
              <a:rPr lang="en-US" sz="3980">
                <a:solidFill>
                  <a:srgbClr val="000000"/>
                </a:solidFill>
                <a:latin typeface="Aileron"/>
                <a:ea typeface="Aileron"/>
                <a:cs typeface="Aileron"/>
                <a:sym typeface="Aileron"/>
              </a:rPr>
              <a:t>Rotary motion transmission in industrial equipment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0230" y="2073145"/>
            <a:ext cx="12907540"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SCOPE AND LIMITATIONS</a:t>
            </a:r>
          </a:p>
        </p:txBody>
      </p:sp>
      <p:sp>
        <p:nvSpPr>
          <p:cNvPr name="TextBox 14" id="14"/>
          <p:cNvSpPr txBox="true"/>
          <p:nvPr/>
        </p:nvSpPr>
        <p:spPr>
          <a:xfrm rot="0">
            <a:off x="1897104" y="3803701"/>
            <a:ext cx="7246896" cy="4692295"/>
          </a:xfrm>
          <a:prstGeom prst="rect">
            <a:avLst/>
          </a:prstGeom>
        </p:spPr>
        <p:txBody>
          <a:bodyPr anchor="t" rtlCol="false" tIns="0" lIns="0" bIns="0" rIns="0">
            <a:spAutoFit/>
          </a:bodyPr>
          <a:lstStyle/>
          <a:p>
            <a:pPr algn="l">
              <a:lnSpc>
                <a:spcPts val="4659"/>
              </a:lnSpc>
            </a:pPr>
            <a:r>
              <a:rPr lang="en-US" sz="3328" b="true">
                <a:solidFill>
                  <a:srgbClr val="000000"/>
                </a:solidFill>
                <a:latin typeface="Koho Bold"/>
                <a:ea typeface="Koho Bold"/>
                <a:cs typeface="Koho Bold"/>
                <a:sym typeface="Koho Bold"/>
              </a:rPr>
              <a:t>Scope</a:t>
            </a:r>
          </a:p>
          <a:p>
            <a:pPr algn="l" marL="718618" indent="-359309" lvl="1">
              <a:lnSpc>
                <a:spcPts val="4659"/>
              </a:lnSpc>
              <a:buFont typeface="Arial"/>
              <a:buChar char="•"/>
            </a:pPr>
            <a:r>
              <a:rPr lang="en-US" sz="3328">
                <a:solidFill>
                  <a:srgbClr val="000000"/>
                </a:solidFill>
                <a:latin typeface="Koho"/>
                <a:ea typeface="Koho"/>
                <a:cs typeface="Koho"/>
                <a:sym typeface="Koho"/>
              </a:rPr>
              <a:t>Constant t</a:t>
            </a:r>
            <a:r>
              <a:rPr lang="en-US" sz="3328">
                <a:solidFill>
                  <a:srgbClr val="000000"/>
                </a:solidFill>
                <a:latin typeface="Koho"/>
                <a:ea typeface="Koho"/>
                <a:cs typeface="Koho"/>
                <a:sym typeface="Koho"/>
              </a:rPr>
              <a:t>orque transmission.</a:t>
            </a:r>
          </a:p>
          <a:p>
            <a:pPr algn="l" marL="718618" indent="-359309" lvl="1">
              <a:lnSpc>
                <a:spcPts val="4659"/>
              </a:lnSpc>
              <a:buFont typeface="Arial"/>
              <a:buChar char="•"/>
            </a:pPr>
            <a:r>
              <a:rPr lang="en-US" sz="3328">
                <a:solidFill>
                  <a:srgbClr val="000000"/>
                </a:solidFill>
                <a:latin typeface="Koho"/>
                <a:ea typeface="Koho"/>
                <a:cs typeface="Koho"/>
                <a:sym typeface="Koho"/>
              </a:rPr>
              <a:t>Handles slight parallel shaft misalignment.</a:t>
            </a:r>
          </a:p>
          <a:p>
            <a:pPr algn="l" marL="718618" indent="-359309" lvl="1">
              <a:lnSpc>
                <a:spcPts val="4659"/>
              </a:lnSpc>
              <a:buFont typeface="Arial"/>
              <a:buChar char="•"/>
            </a:pPr>
            <a:r>
              <a:rPr lang="en-US" sz="3328">
                <a:solidFill>
                  <a:srgbClr val="000000"/>
                </a:solidFill>
                <a:latin typeface="Koho"/>
                <a:ea typeface="Koho"/>
                <a:cs typeface="Koho"/>
                <a:sym typeface="Koho"/>
              </a:rPr>
              <a:t>Compact, economical, and easy to maintain.</a:t>
            </a:r>
          </a:p>
          <a:p>
            <a:pPr algn="l" marL="718618" indent="-359309" lvl="1">
              <a:lnSpc>
                <a:spcPts val="4659"/>
              </a:lnSpc>
              <a:buFont typeface="Arial"/>
              <a:buChar char="•"/>
            </a:pPr>
            <a:r>
              <a:rPr lang="en-US" sz="3328">
                <a:solidFill>
                  <a:srgbClr val="000000"/>
                </a:solidFill>
                <a:latin typeface="Koho"/>
                <a:ea typeface="Koho"/>
                <a:cs typeface="Koho"/>
                <a:sym typeface="Koho"/>
              </a:rPr>
              <a:t>Suitable for low to medium torque applications.</a:t>
            </a:r>
          </a:p>
        </p:txBody>
      </p:sp>
      <p:sp>
        <p:nvSpPr>
          <p:cNvPr name="TextBox 15" id="15"/>
          <p:cNvSpPr txBox="true"/>
          <p:nvPr/>
        </p:nvSpPr>
        <p:spPr>
          <a:xfrm rot="0">
            <a:off x="9144000" y="3781546"/>
            <a:ext cx="7518012" cy="5033645"/>
          </a:xfrm>
          <a:prstGeom prst="rect">
            <a:avLst/>
          </a:prstGeom>
        </p:spPr>
        <p:txBody>
          <a:bodyPr anchor="t" rtlCol="false" tIns="0" lIns="0" bIns="0" rIns="0">
            <a:spAutoFit/>
          </a:bodyPr>
          <a:lstStyle/>
          <a:p>
            <a:pPr algn="l">
              <a:lnSpc>
                <a:spcPts val="4480"/>
              </a:lnSpc>
            </a:pPr>
            <a:r>
              <a:rPr lang="en-US" sz="3200" b="true">
                <a:solidFill>
                  <a:srgbClr val="000000"/>
                </a:solidFill>
                <a:latin typeface="Koho Bold"/>
                <a:ea typeface="Koho Bold"/>
                <a:cs typeface="Koho Bold"/>
                <a:sym typeface="Koho Bold"/>
              </a:rPr>
              <a:t>Limitations</a:t>
            </a:r>
          </a:p>
          <a:p>
            <a:pPr algn="l" marL="690881" indent="-345440" lvl="1">
              <a:lnSpc>
                <a:spcPts val="4480"/>
              </a:lnSpc>
              <a:buFont typeface="Arial"/>
              <a:buChar char="•"/>
            </a:pPr>
            <a:r>
              <a:rPr lang="en-US" sz="3200">
                <a:solidFill>
                  <a:srgbClr val="000000"/>
                </a:solidFill>
                <a:latin typeface="Koho"/>
                <a:ea typeface="Koho"/>
                <a:cs typeface="Koho"/>
                <a:sym typeface="Koho"/>
              </a:rPr>
              <a:t>Cannot accommodate angular or axial misalignment.</a:t>
            </a:r>
          </a:p>
          <a:p>
            <a:pPr algn="l" marL="690881" indent="-345440" lvl="1">
              <a:lnSpc>
                <a:spcPts val="4480"/>
              </a:lnSpc>
              <a:buFont typeface="Arial"/>
              <a:buChar char="•"/>
            </a:pPr>
            <a:r>
              <a:rPr lang="en-US" sz="3200">
                <a:solidFill>
                  <a:srgbClr val="000000"/>
                </a:solidFill>
                <a:latin typeface="Koho"/>
                <a:ea typeface="Koho"/>
                <a:cs typeface="Koho"/>
                <a:sym typeface="Koho"/>
              </a:rPr>
              <a:t>Sliding action causes wear and friction.</a:t>
            </a:r>
          </a:p>
          <a:p>
            <a:pPr algn="l" marL="690881" indent="-345440" lvl="1">
              <a:lnSpc>
                <a:spcPts val="4480"/>
              </a:lnSpc>
              <a:buFont typeface="Arial"/>
              <a:buChar char="•"/>
            </a:pPr>
            <a:r>
              <a:rPr lang="en-US" sz="3200">
                <a:solidFill>
                  <a:srgbClr val="000000"/>
                </a:solidFill>
                <a:latin typeface="Koho"/>
                <a:ea typeface="Koho"/>
                <a:cs typeface="Koho"/>
                <a:sym typeface="Koho"/>
              </a:rPr>
              <a:t>Performance decreases at high rotational speeds.</a:t>
            </a:r>
          </a:p>
          <a:p>
            <a:pPr algn="l" marL="690881" indent="-345440" lvl="1">
              <a:lnSpc>
                <a:spcPts val="4480"/>
              </a:lnSpc>
              <a:buFont typeface="Arial"/>
              <a:buChar char="•"/>
            </a:pPr>
            <a:r>
              <a:rPr lang="en-US" sz="3200">
                <a:solidFill>
                  <a:srgbClr val="000000"/>
                </a:solidFill>
                <a:latin typeface="Koho"/>
                <a:ea typeface="Koho"/>
                <a:cs typeface="Koho"/>
                <a:sym typeface="Koho"/>
              </a:rPr>
              <a:t>Prototype limited to functional demonstration only.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1833156"/>
            <a:ext cx="8493297"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COMPONENTS</a:t>
            </a:r>
          </a:p>
        </p:txBody>
      </p:sp>
      <p:grpSp>
        <p:nvGrpSpPr>
          <p:cNvPr name="Group 14" id="14"/>
          <p:cNvGrpSpPr/>
          <p:nvPr/>
        </p:nvGrpSpPr>
        <p:grpSpPr>
          <a:xfrm rot="0">
            <a:off x="10677289" y="3603378"/>
            <a:ext cx="5984723" cy="3080245"/>
            <a:chOff x="0" y="0"/>
            <a:chExt cx="1145535" cy="589589"/>
          </a:xfrm>
        </p:grpSpPr>
        <p:sp>
          <p:nvSpPr>
            <p:cNvPr name="Freeform 15" id="15"/>
            <p:cNvSpPr/>
            <p:nvPr/>
          </p:nvSpPr>
          <p:spPr>
            <a:xfrm flipH="false" flipV="false" rot="-24000">
              <a:off x="-1837" y="-3784"/>
              <a:ext cx="1149210" cy="597158"/>
            </a:xfrm>
            <a:custGeom>
              <a:avLst/>
              <a:gdLst/>
              <a:ahLst/>
              <a:cxnLst/>
              <a:rect r="r" b="b" t="t" l="l"/>
              <a:pathLst>
                <a:path h="597158" w="1149210">
                  <a:moveTo>
                    <a:pt x="33661" y="0"/>
                  </a:moveTo>
                  <a:lnTo>
                    <a:pt x="1119664" y="7582"/>
                  </a:lnTo>
                  <a:cubicBezTo>
                    <a:pt x="1127555" y="7637"/>
                    <a:pt x="1135101" y="10825"/>
                    <a:pt x="1140641" y="16443"/>
                  </a:cubicBezTo>
                  <a:cubicBezTo>
                    <a:pt x="1146182" y="22062"/>
                    <a:pt x="1149264" y="29651"/>
                    <a:pt x="1149209" y="37542"/>
                  </a:cubicBezTo>
                  <a:lnTo>
                    <a:pt x="1145508" y="567613"/>
                  </a:lnTo>
                  <a:cubicBezTo>
                    <a:pt x="1145453" y="575503"/>
                    <a:pt x="1142266" y="583049"/>
                    <a:pt x="1136647" y="588590"/>
                  </a:cubicBezTo>
                  <a:cubicBezTo>
                    <a:pt x="1131028" y="594130"/>
                    <a:pt x="1123439" y="597212"/>
                    <a:pt x="1115548" y="597157"/>
                  </a:cubicBezTo>
                  <a:lnTo>
                    <a:pt x="29545" y="589575"/>
                  </a:lnTo>
                  <a:cubicBezTo>
                    <a:pt x="21654" y="589520"/>
                    <a:pt x="14109" y="586333"/>
                    <a:pt x="8568" y="580714"/>
                  </a:cubicBezTo>
                  <a:cubicBezTo>
                    <a:pt x="3027" y="575096"/>
                    <a:pt x="-54" y="567506"/>
                    <a:pt x="1" y="559615"/>
                  </a:cubicBezTo>
                  <a:lnTo>
                    <a:pt x="3701" y="29545"/>
                  </a:lnTo>
                  <a:cubicBezTo>
                    <a:pt x="3756" y="21654"/>
                    <a:pt x="6944" y="14108"/>
                    <a:pt x="12562" y="8568"/>
                  </a:cubicBezTo>
                  <a:cubicBezTo>
                    <a:pt x="18181" y="3027"/>
                    <a:pt x="25771" y="-55"/>
                    <a:pt x="33661" y="0"/>
                  </a:cubicBezTo>
                  <a:close/>
                </a:path>
              </a:pathLst>
            </a:custGeom>
            <a:blipFill>
              <a:blip r:embed="rId14"/>
              <a:stretch>
                <a:fillRect l="-8421" t="-5698" r="-629" b="2"/>
              </a:stretch>
            </a:blipFill>
          </p:spPr>
        </p:sp>
      </p:grpSp>
      <p:sp>
        <p:nvSpPr>
          <p:cNvPr name="TextBox 16" id="16"/>
          <p:cNvSpPr txBox="true"/>
          <p:nvPr/>
        </p:nvSpPr>
        <p:spPr>
          <a:xfrm rot="0">
            <a:off x="2634754" y="3178716"/>
            <a:ext cx="9097247" cy="6317154"/>
          </a:xfrm>
          <a:prstGeom prst="rect">
            <a:avLst/>
          </a:prstGeom>
        </p:spPr>
        <p:txBody>
          <a:bodyPr anchor="t" rtlCol="false" tIns="0" lIns="0" bIns="0" rIns="0">
            <a:spAutoFit/>
          </a:bodyPr>
          <a:lstStyle/>
          <a:p>
            <a:pPr algn="l">
              <a:lnSpc>
                <a:spcPts val="4559"/>
              </a:lnSpc>
            </a:pPr>
            <a:r>
              <a:rPr lang="en-US" sz="3256">
                <a:solidFill>
                  <a:srgbClr val="000000"/>
                </a:solidFill>
                <a:latin typeface="Koho"/>
                <a:ea typeface="Koho"/>
                <a:cs typeface="Koho"/>
                <a:sym typeface="Koho"/>
              </a:rPr>
              <a:t>1. Input Flange</a:t>
            </a:r>
          </a:p>
          <a:p>
            <a:pPr algn="l" marL="703115" indent="-351557" lvl="1">
              <a:lnSpc>
                <a:spcPts val="4559"/>
              </a:lnSpc>
              <a:buFont typeface="Arial"/>
              <a:buChar char="•"/>
            </a:pPr>
            <a:r>
              <a:rPr lang="en-US" sz="3256">
                <a:solidFill>
                  <a:srgbClr val="000000"/>
                </a:solidFill>
                <a:latin typeface="Koho"/>
                <a:ea typeface="Koho"/>
                <a:cs typeface="Koho"/>
                <a:sym typeface="Koho"/>
              </a:rPr>
              <a:t>Mo</a:t>
            </a:r>
            <a:r>
              <a:rPr lang="en-US" sz="3256">
                <a:solidFill>
                  <a:srgbClr val="000000"/>
                </a:solidFill>
                <a:latin typeface="Koho"/>
                <a:ea typeface="Koho"/>
                <a:cs typeface="Koho"/>
                <a:sym typeface="Koho"/>
              </a:rPr>
              <a:t>unted on the driving shaft.</a:t>
            </a:r>
          </a:p>
          <a:p>
            <a:pPr algn="l" marL="703115" indent="-351557" lvl="1">
              <a:lnSpc>
                <a:spcPts val="4559"/>
              </a:lnSpc>
              <a:buFont typeface="Arial"/>
              <a:buChar char="•"/>
            </a:pPr>
            <a:r>
              <a:rPr lang="en-US" sz="3256">
                <a:solidFill>
                  <a:srgbClr val="000000"/>
                </a:solidFill>
                <a:latin typeface="Koho"/>
                <a:ea typeface="Koho"/>
                <a:cs typeface="Koho"/>
                <a:sym typeface="Koho"/>
              </a:rPr>
              <a:t>Tr</a:t>
            </a:r>
            <a:r>
              <a:rPr lang="en-US" sz="3256">
                <a:solidFill>
                  <a:srgbClr val="000000"/>
                </a:solidFill>
                <a:latin typeface="Koho"/>
                <a:ea typeface="Koho"/>
                <a:cs typeface="Koho"/>
                <a:sym typeface="Koho"/>
              </a:rPr>
              <a:t>ansfers motion to the intermediate disc.</a:t>
            </a:r>
          </a:p>
          <a:p>
            <a:pPr algn="l">
              <a:lnSpc>
                <a:spcPts val="4559"/>
              </a:lnSpc>
            </a:pPr>
            <a:r>
              <a:rPr lang="en-US" sz="3256">
                <a:solidFill>
                  <a:srgbClr val="000000"/>
                </a:solidFill>
                <a:latin typeface="Koho"/>
                <a:ea typeface="Koho"/>
                <a:cs typeface="Koho"/>
                <a:sym typeface="Koho"/>
              </a:rPr>
              <a:t>2. I</a:t>
            </a:r>
            <a:r>
              <a:rPr lang="en-US" sz="3256">
                <a:solidFill>
                  <a:srgbClr val="000000"/>
                </a:solidFill>
                <a:latin typeface="Koho"/>
                <a:ea typeface="Koho"/>
                <a:cs typeface="Koho"/>
                <a:sym typeface="Koho"/>
              </a:rPr>
              <a:t>ntermediate Disc</a:t>
            </a:r>
          </a:p>
          <a:p>
            <a:pPr algn="l" marL="703115" indent="-351557" lvl="1">
              <a:lnSpc>
                <a:spcPts val="4559"/>
              </a:lnSpc>
              <a:buFont typeface="Arial"/>
              <a:buChar char="•"/>
            </a:pPr>
            <a:r>
              <a:rPr lang="en-US" sz="3256">
                <a:solidFill>
                  <a:srgbClr val="000000"/>
                </a:solidFill>
                <a:latin typeface="Koho"/>
                <a:ea typeface="Koho"/>
                <a:cs typeface="Koho"/>
                <a:sym typeface="Koho"/>
              </a:rPr>
              <a:t>Floating member.</a:t>
            </a:r>
          </a:p>
          <a:p>
            <a:pPr algn="l" marL="703115" indent="-351557" lvl="1">
              <a:lnSpc>
                <a:spcPts val="4559"/>
              </a:lnSpc>
              <a:buFont typeface="Arial"/>
              <a:buChar char="•"/>
            </a:pPr>
            <a:r>
              <a:rPr lang="en-US" sz="3256">
                <a:solidFill>
                  <a:srgbClr val="000000"/>
                </a:solidFill>
                <a:latin typeface="Koho"/>
                <a:ea typeface="Koho"/>
                <a:cs typeface="Koho"/>
                <a:sym typeface="Koho"/>
              </a:rPr>
              <a:t>Contains tongues on both sides placed at 90°.</a:t>
            </a:r>
          </a:p>
          <a:p>
            <a:pPr algn="l" marL="703115" indent="-351557" lvl="1">
              <a:lnSpc>
                <a:spcPts val="4559"/>
              </a:lnSpc>
              <a:buFont typeface="Arial"/>
              <a:buChar char="•"/>
            </a:pPr>
            <a:r>
              <a:rPr lang="en-US" sz="3256">
                <a:solidFill>
                  <a:srgbClr val="000000"/>
                </a:solidFill>
                <a:latin typeface="Koho"/>
                <a:ea typeface="Koho"/>
                <a:cs typeface="Koho"/>
                <a:sym typeface="Koho"/>
              </a:rPr>
              <a:t>Slides inside the grooves of both flanges.</a:t>
            </a:r>
          </a:p>
          <a:p>
            <a:pPr algn="l">
              <a:lnSpc>
                <a:spcPts val="4559"/>
              </a:lnSpc>
            </a:pPr>
            <a:r>
              <a:rPr lang="en-US" sz="3256">
                <a:solidFill>
                  <a:srgbClr val="000000"/>
                </a:solidFill>
                <a:latin typeface="Koho"/>
                <a:ea typeface="Koho"/>
                <a:cs typeface="Koho"/>
                <a:sym typeface="Koho"/>
              </a:rPr>
              <a:t>3. Output Flange</a:t>
            </a:r>
          </a:p>
          <a:p>
            <a:pPr algn="l" marL="703115" indent="-351557" lvl="1">
              <a:lnSpc>
                <a:spcPts val="4559"/>
              </a:lnSpc>
              <a:buFont typeface="Arial"/>
              <a:buChar char="•"/>
            </a:pPr>
            <a:r>
              <a:rPr lang="en-US" sz="3256">
                <a:solidFill>
                  <a:srgbClr val="000000"/>
                </a:solidFill>
                <a:latin typeface="Koho"/>
                <a:ea typeface="Koho"/>
                <a:cs typeface="Koho"/>
                <a:sym typeface="Koho"/>
              </a:rPr>
              <a:t>Mounted on the driven shaft.</a:t>
            </a:r>
          </a:p>
          <a:p>
            <a:pPr algn="l" marL="703115" indent="-351557" lvl="1">
              <a:lnSpc>
                <a:spcPts val="4559"/>
              </a:lnSpc>
              <a:buFont typeface="Arial"/>
              <a:buChar char="•"/>
            </a:pPr>
            <a:r>
              <a:rPr lang="en-US" sz="3256">
                <a:solidFill>
                  <a:srgbClr val="000000"/>
                </a:solidFill>
                <a:latin typeface="Koho"/>
                <a:ea typeface="Koho"/>
                <a:cs typeface="Koho"/>
                <a:sym typeface="Koho"/>
              </a:rPr>
              <a:t>Receives motion from the intermediate disc.</a:t>
            </a:r>
          </a:p>
          <a:p>
            <a:pPr algn="l">
              <a:lnSpc>
                <a:spcPts val="45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3831274" y="1950596"/>
            <a:ext cx="10625453"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WORKING PRINCIPLE</a:t>
            </a:r>
          </a:p>
        </p:txBody>
      </p:sp>
      <p:sp>
        <p:nvSpPr>
          <p:cNvPr name="TextBox 14" id="14"/>
          <p:cNvSpPr txBox="true"/>
          <p:nvPr/>
        </p:nvSpPr>
        <p:spPr>
          <a:xfrm rot="0">
            <a:off x="1802247" y="3571985"/>
            <a:ext cx="9652229" cy="4864775"/>
          </a:xfrm>
          <a:prstGeom prst="rect">
            <a:avLst/>
          </a:prstGeom>
        </p:spPr>
        <p:txBody>
          <a:bodyPr anchor="t" rtlCol="false" tIns="0" lIns="0" bIns="0" rIns="0">
            <a:spAutoFit/>
          </a:bodyPr>
          <a:lstStyle/>
          <a:p>
            <a:pPr algn="l" marL="853311" indent="-426655" lvl="1">
              <a:lnSpc>
                <a:spcPts val="5533"/>
              </a:lnSpc>
              <a:buFont typeface="Arial"/>
              <a:buChar char="•"/>
            </a:pPr>
            <a:r>
              <a:rPr lang="en-US" sz="3952">
                <a:solidFill>
                  <a:srgbClr val="000000"/>
                </a:solidFill>
                <a:latin typeface="Koho"/>
                <a:ea typeface="Koho"/>
                <a:cs typeface="Koho"/>
                <a:sym typeface="Koho"/>
              </a:rPr>
              <a:t>Input shaft rotates.</a:t>
            </a:r>
          </a:p>
          <a:p>
            <a:pPr algn="l" marL="853311" indent="-426655" lvl="1">
              <a:lnSpc>
                <a:spcPts val="5533"/>
              </a:lnSpc>
              <a:buFont typeface="Arial"/>
              <a:buChar char="•"/>
            </a:pPr>
            <a:r>
              <a:rPr lang="en-US" sz="3952">
                <a:solidFill>
                  <a:srgbClr val="000000"/>
                </a:solidFill>
                <a:latin typeface="Koho"/>
                <a:ea typeface="Koho"/>
                <a:cs typeface="Koho"/>
                <a:sym typeface="Koho"/>
              </a:rPr>
              <a:t>Input flange drives the floating disc.</a:t>
            </a:r>
          </a:p>
          <a:p>
            <a:pPr algn="l" marL="853311" indent="-426655" lvl="1">
              <a:lnSpc>
                <a:spcPts val="5533"/>
              </a:lnSpc>
              <a:buFont typeface="Arial"/>
              <a:buChar char="•"/>
            </a:pPr>
            <a:r>
              <a:rPr lang="en-US" sz="3952">
                <a:solidFill>
                  <a:srgbClr val="000000"/>
                </a:solidFill>
                <a:latin typeface="Koho"/>
                <a:ea typeface="Koho"/>
                <a:cs typeface="Koho"/>
                <a:sym typeface="Koho"/>
              </a:rPr>
              <a:t>Floating disc slides inside the groove.</a:t>
            </a:r>
          </a:p>
          <a:p>
            <a:pPr algn="l" marL="853311" indent="-426655" lvl="1">
              <a:lnSpc>
                <a:spcPts val="5533"/>
              </a:lnSpc>
              <a:buFont typeface="Arial"/>
              <a:buChar char="•"/>
            </a:pPr>
            <a:r>
              <a:rPr lang="en-US" sz="3952">
                <a:solidFill>
                  <a:srgbClr val="000000"/>
                </a:solidFill>
                <a:latin typeface="Koho"/>
                <a:ea typeface="Koho"/>
                <a:cs typeface="Koho"/>
                <a:sym typeface="Koho"/>
              </a:rPr>
              <a:t>Output flange receives motion.</a:t>
            </a:r>
          </a:p>
          <a:p>
            <a:pPr algn="l" marL="853311" indent="-426655" lvl="1">
              <a:lnSpc>
                <a:spcPts val="5533"/>
              </a:lnSpc>
              <a:buFont typeface="Arial"/>
              <a:buChar char="•"/>
            </a:pPr>
            <a:r>
              <a:rPr lang="en-US" sz="3952">
                <a:solidFill>
                  <a:srgbClr val="000000"/>
                </a:solidFill>
                <a:latin typeface="Koho"/>
                <a:ea typeface="Koho"/>
                <a:cs typeface="Koho"/>
                <a:sym typeface="Koho"/>
              </a:rPr>
              <a:t>Output shaft rotates at the same speed.</a:t>
            </a:r>
          </a:p>
          <a:p>
            <a:pPr algn="l" marL="853311" indent="-426655" lvl="1">
              <a:lnSpc>
                <a:spcPts val="5533"/>
              </a:lnSpc>
              <a:buFont typeface="Arial"/>
              <a:buChar char="•"/>
            </a:pPr>
            <a:r>
              <a:rPr lang="en-US" sz="3952">
                <a:solidFill>
                  <a:srgbClr val="000000"/>
                </a:solidFill>
                <a:latin typeface="Koho"/>
                <a:ea typeface="Koho"/>
                <a:cs typeface="Koho"/>
                <a:sym typeface="Koho"/>
              </a:rPr>
              <a:t>Sliding motion compensates for shaft misalignment.</a:t>
            </a:r>
          </a:p>
        </p:txBody>
      </p:sp>
      <p:grpSp>
        <p:nvGrpSpPr>
          <p:cNvPr name="Group 15" id="15"/>
          <p:cNvGrpSpPr/>
          <p:nvPr/>
        </p:nvGrpSpPr>
        <p:grpSpPr>
          <a:xfrm rot="0">
            <a:off x="11371612" y="3549279"/>
            <a:ext cx="5447351" cy="4484347"/>
            <a:chOff x="0" y="0"/>
            <a:chExt cx="1042677" cy="858349"/>
          </a:xfrm>
        </p:grpSpPr>
        <p:sp>
          <p:nvSpPr>
            <p:cNvPr name="Freeform 16" id="16"/>
            <p:cNvSpPr/>
            <p:nvPr/>
          </p:nvSpPr>
          <p:spPr>
            <a:xfrm flipH="false" flipV="false" rot="0">
              <a:off x="0" y="0"/>
              <a:ext cx="1042677" cy="858349"/>
            </a:xfrm>
            <a:custGeom>
              <a:avLst/>
              <a:gdLst/>
              <a:ahLst/>
              <a:cxnLst/>
              <a:rect r="r" b="b" t="t" l="l"/>
              <a:pathLst>
                <a:path h="858349" w="1042677">
                  <a:moveTo>
                    <a:pt x="32688" y="0"/>
                  </a:moveTo>
                  <a:lnTo>
                    <a:pt x="1009989" y="0"/>
                  </a:lnTo>
                  <a:cubicBezTo>
                    <a:pt x="1028042" y="0"/>
                    <a:pt x="1042677" y="14635"/>
                    <a:pt x="1042677" y="32688"/>
                  </a:cubicBezTo>
                  <a:lnTo>
                    <a:pt x="1042677" y="825660"/>
                  </a:lnTo>
                  <a:cubicBezTo>
                    <a:pt x="1042677" y="834330"/>
                    <a:pt x="1039233" y="842644"/>
                    <a:pt x="1033103" y="848774"/>
                  </a:cubicBezTo>
                  <a:cubicBezTo>
                    <a:pt x="1026973" y="854905"/>
                    <a:pt x="1018658" y="858349"/>
                    <a:pt x="1009989" y="858349"/>
                  </a:cubicBezTo>
                  <a:lnTo>
                    <a:pt x="32688" y="858349"/>
                  </a:lnTo>
                  <a:cubicBezTo>
                    <a:pt x="14635" y="858349"/>
                    <a:pt x="0" y="843714"/>
                    <a:pt x="0" y="825660"/>
                  </a:cubicBezTo>
                  <a:lnTo>
                    <a:pt x="0" y="32688"/>
                  </a:lnTo>
                  <a:cubicBezTo>
                    <a:pt x="0" y="14635"/>
                    <a:pt x="14635" y="0"/>
                    <a:pt x="32688" y="0"/>
                  </a:cubicBezTo>
                  <a:close/>
                </a:path>
              </a:pathLst>
            </a:custGeom>
            <a:blipFill>
              <a:blip r:embed="rId14"/>
              <a:stretch>
                <a:fillRect l="0" t="-23830" r="-81444"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193154" y="1746519"/>
            <a:ext cx="13901692"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THEORITICAL FRAMEWORK</a:t>
            </a:r>
          </a:p>
        </p:txBody>
      </p:sp>
      <p:sp>
        <p:nvSpPr>
          <p:cNvPr name="TextBox 14" id="14"/>
          <p:cNvSpPr txBox="true"/>
          <p:nvPr/>
        </p:nvSpPr>
        <p:spPr>
          <a:xfrm rot="0">
            <a:off x="2729984" y="3101604"/>
            <a:ext cx="13364861" cy="6292313"/>
          </a:xfrm>
          <a:prstGeom prst="rect">
            <a:avLst/>
          </a:prstGeom>
        </p:spPr>
        <p:txBody>
          <a:bodyPr anchor="t" rtlCol="false" tIns="0" lIns="0" bIns="0" rIns="0">
            <a:spAutoFit/>
          </a:bodyPr>
          <a:lstStyle/>
          <a:p>
            <a:pPr algn="l">
              <a:lnSpc>
                <a:spcPts val="3879"/>
              </a:lnSpc>
            </a:pPr>
            <a:r>
              <a:rPr lang="en-US" sz="2771">
                <a:solidFill>
                  <a:srgbClr val="000000"/>
                </a:solidFill>
                <a:latin typeface="Koho"/>
                <a:ea typeface="Koho"/>
                <a:cs typeface="Koho"/>
                <a:sym typeface="Koho"/>
              </a:rPr>
              <a:t>Oldham's coupling works based on kinematic principles.</a:t>
            </a:r>
          </a:p>
          <a:p>
            <a:pPr algn="l">
              <a:lnSpc>
                <a:spcPts val="3879"/>
              </a:lnSpc>
            </a:pPr>
            <a:r>
              <a:rPr lang="en-US" sz="2771">
                <a:solidFill>
                  <a:srgbClr val="000000"/>
                </a:solidFill>
                <a:latin typeface="Koho"/>
                <a:ea typeface="Koho"/>
                <a:cs typeface="Koho"/>
                <a:sym typeface="Koho"/>
              </a:rPr>
              <a:t>It is considered an RP–PR mechanism, which is an inversion of the Elliptic Trammel mechanism.</a:t>
            </a:r>
          </a:p>
          <a:p>
            <a:pPr algn="l">
              <a:lnSpc>
                <a:spcPts val="3879"/>
              </a:lnSpc>
            </a:pPr>
            <a:r>
              <a:rPr lang="en-US" sz="2771" b="true">
                <a:solidFill>
                  <a:srgbClr val="000000"/>
                </a:solidFill>
                <a:latin typeface="Koho Bold"/>
                <a:ea typeface="Koho Bold"/>
                <a:cs typeface="Koho Bold"/>
                <a:sym typeface="Koho Bold"/>
              </a:rPr>
              <a:t>Important Design Parameters</a:t>
            </a:r>
          </a:p>
          <a:p>
            <a:pPr algn="l" marL="598292" indent="-299146" lvl="1">
              <a:lnSpc>
                <a:spcPts val="3879"/>
              </a:lnSpc>
              <a:buFont typeface="Arial"/>
              <a:buChar char="•"/>
            </a:pPr>
            <a:r>
              <a:rPr lang="en-US" sz="2771">
                <a:solidFill>
                  <a:srgbClr val="000000"/>
                </a:solidFill>
                <a:latin typeface="Koho"/>
                <a:ea typeface="Koho"/>
                <a:cs typeface="Koho"/>
                <a:sym typeface="Koho"/>
              </a:rPr>
              <a:t>Shaft offset distance</a:t>
            </a:r>
          </a:p>
          <a:p>
            <a:pPr algn="l" marL="598292" indent="-299146" lvl="1">
              <a:lnSpc>
                <a:spcPts val="3879"/>
              </a:lnSpc>
              <a:buFont typeface="Arial"/>
              <a:buChar char="•"/>
            </a:pPr>
            <a:r>
              <a:rPr lang="en-US" sz="2771">
                <a:solidFill>
                  <a:srgbClr val="000000"/>
                </a:solidFill>
                <a:latin typeface="Koho"/>
                <a:ea typeface="Koho"/>
                <a:cs typeface="Koho"/>
                <a:sym typeface="Koho"/>
              </a:rPr>
              <a:t>Groove radius</a:t>
            </a:r>
          </a:p>
          <a:p>
            <a:pPr algn="l" marL="598292" indent="-299146" lvl="1">
              <a:lnSpc>
                <a:spcPts val="3879"/>
              </a:lnSpc>
              <a:buFont typeface="Arial"/>
              <a:buChar char="•"/>
            </a:pPr>
            <a:r>
              <a:rPr lang="en-US" sz="2771">
                <a:solidFill>
                  <a:srgbClr val="000000"/>
                </a:solidFill>
                <a:latin typeface="Koho"/>
                <a:ea typeface="Koho"/>
                <a:cs typeface="Koho"/>
                <a:sym typeface="Koho"/>
              </a:rPr>
              <a:t>Radius of curvature</a:t>
            </a:r>
          </a:p>
          <a:p>
            <a:pPr algn="l" marL="598292" indent="-299146" lvl="1">
              <a:lnSpc>
                <a:spcPts val="3879"/>
              </a:lnSpc>
              <a:buFont typeface="Arial"/>
              <a:buChar char="•"/>
            </a:pPr>
            <a:r>
              <a:rPr lang="en-US" sz="2771">
                <a:solidFill>
                  <a:srgbClr val="000000"/>
                </a:solidFill>
                <a:latin typeface="Koho"/>
                <a:ea typeface="Koho"/>
                <a:cs typeface="Koho"/>
                <a:sym typeface="Koho"/>
              </a:rPr>
              <a:t>Groove intersection angle (approximately 90°)</a:t>
            </a:r>
          </a:p>
          <a:p>
            <a:pPr algn="l">
              <a:lnSpc>
                <a:spcPts val="3879"/>
              </a:lnSpc>
            </a:pPr>
            <a:r>
              <a:rPr lang="en-US" sz="2771" b="true">
                <a:solidFill>
                  <a:srgbClr val="000000"/>
                </a:solidFill>
                <a:latin typeface="Koho Bold"/>
                <a:ea typeface="Koho Bold"/>
                <a:cs typeface="Koho Bold"/>
                <a:sym typeface="Koho Bold"/>
              </a:rPr>
              <a:t>Mechanical Considerations</a:t>
            </a:r>
          </a:p>
          <a:p>
            <a:pPr algn="l" marL="598292" indent="-299146" lvl="1">
              <a:lnSpc>
                <a:spcPts val="3879"/>
              </a:lnSpc>
              <a:buFont typeface="Arial"/>
              <a:buChar char="•"/>
            </a:pPr>
            <a:r>
              <a:rPr lang="en-US" sz="2771">
                <a:solidFill>
                  <a:srgbClr val="000000"/>
                </a:solidFill>
                <a:latin typeface="Koho"/>
                <a:ea typeface="Koho"/>
                <a:cs typeface="Koho"/>
                <a:sym typeface="Koho"/>
              </a:rPr>
              <a:t>Sliding motion causes friction.</a:t>
            </a:r>
          </a:p>
          <a:p>
            <a:pPr algn="l" marL="598292" indent="-299146" lvl="1">
              <a:lnSpc>
                <a:spcPts val="3879"/>
              </a:lnSpc>
              <a:buFont typeface="Arial"/>
              <a:buChar char="•"/>
            </a:pPr>
            <a:r>
              <a:rPr lang="en-US" sz="2771">
                <a:solidFill>
                  <a:srgbClr val="000000"/>
                </a:solidFill>
                <a:latin typeface="Koho"/>
                <a:ea typeface="Koho"/>
                <a:cs typeface="Koho"/>
                <a:sym typeface="Koho"/>
              </a:rPr>
              <a:t>Larger groove radius reduces wear.</a:t>
            </a:r>
          </a:p>
          <a:p>
            <a:pPr algn="l" marL="598292" indent="-299146" lvl="1">
              <a:lnSpc>
                <a:spcPts val="3879"/>
              </a:lnSpc>
              <a:buFont typeface="Arial"/>
              <a:buChar char="•"/>
            </a:pPr>
            <a:r>
              <a:rPr lang="en-US" sz="2771">
                <a:solidFill>
                  <a:srgbClr val="000000"/>
                </a:solidFill>
                <a:latin typeface="Koho"/>
                <a:ea typeface="Koho"/>
                <a:cs typeface="Koho"/>
                <a:sym typeface="Koho"/>
              </a:rPr>
              <a:t>Higher speed increases vibration and dynamic imbalance.</a:t>
            </a:r>
          </a:p>
          <a:p>
            <a:pPr algn="l">
              <a:lnSpc>
                <a:spcPts val="3879"/>
              </a:lnSpc>
            </a:pPr>
            <a:r>
              <a:rPr lang="en-US" sz="2771">
                <a:solidFill>
                  <a:srgbClr val="000000"/>
                </a:solidFill>
                <a:latin typeface="Koho"/>
                <a:ea typeface="Koho"/>
                <a:cs typeface="Koho"/>
                <a:sym typeface="Koho"/>
              </a:rPr>
              <a:t>These parameters directly affect the efficiency and life of the coupling.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5524945" y="3838696"/>
            <a:ext cx="6586400" cy="5599117"/>
          </a:xfrm>
          <a:custGeom>
            <a:avLst/>
            <a:gdLst/>
            <a:ahLst/>
            <a:cxnLst/>
            <a:rect r="r" b="b" t="t" l="l"/>
            <a:pathLst>
              <a:path h="5599117" w="6586400">
                <a:moveTo>
                  <a:pt x="0" y="0"/>
                </a:moveTo>
                <a:lnTo>
                  <a:pt x="6586400" y="0"/>
                </a:lnTo>
                <a:lnTo>
                  <a:pt x="6586400" y="5599117"/>
                </a:lnTo>
                <a:lnTo>
                  <a:pt x="0" y="5599117"/>
                </a:lnTo>
                <a:lnTo>
                  <a:pt x="0" y="0"/>
                </a:lnTo>
                <a:close/>
              </a:path>
            </a:pathLst>
          </a:custGeom>
          <a:blipFill>
            <a:blip r:embed="rId14"/>
            <a:stretch>
              <a:fillRect l="0" t="0" r="0" b="0"/>
            </a:stretch>
          </a:blipFill>
        </p:spPr>
      </p:sp>
      <p:sp>
        <p:nvSpPr>
          <p:cNvPr name="TextBox 14" id="14"/>
          <p:cNvSpPr txBox="true"/>
          <p:nvPr/>
        </p:nvSpPr>
        <p:spPr>
          <a:xfrm rot="0">
            <a:off x="2193154" y="2165619"/>
            <a:ext cx="13901692" cy="1866400"/>
          </a:xfrm>
          <a:prstGeom prst="rect">
            <a:avLst/>
          </a:prstGeom>
        </p:spPr>
        <p:txBody>
          <a:bodyPr anchor="t" rtlCol="false" tIns="0" lIns="0" bIns="0" rIns="0">
            <a:spAutoFit/>
          </a:bodyPr>
          <a:lstStyle/>
          <a:p>
            <a:pPr algn="l">
              <a:lnSpc>
                <a:spcPts val="7009"/>
              </a:lnSpc>
            </a:pPr>
            <a:r>
              <a:rPr lang="en-US" b="true" sz="8150">
                <a:solidFill>
                  <a:srgbClr val="000000"/>
                </a:solidFill>
                <a:latin typeface="Aileron Bold"/>
                <a:ea typeface="Aileron Bold"/>
                <a:cs typeface="Aileron Bold"/>
                <a:sym typeface="Aileron Bold"/>
              </a:rPr>
              <a:t>DESIGN AND FABRICATION PROCESS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1452706"/>
            <a:ext cx="8493297"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ADVANTAGE</a:t>
            </a:r>
          </a:p>
        </p:txBody>
      </p:sp>
      <p:sp>
        <p:nvSpPr>
          <p:cNvPr name="TextBox 14" id="14"/>
          <p:cNvSpPr txBox="true"/>
          <p:nvPr/>
        </p:nvSpPr>
        <p:spPr>
          <a:xfrm rot="0">
            <a:off x="3243715" y="3226984"/>
            <a:ext cx="11800571" cy="5899506"/>
          </a:xfrm>
          <a:prstGeom prst="rect">
            <a:avLst/>
          </a:prstGeom>
        </p:spPr>
        <p:txBody>
          <a:bodyPr anchor="t" rtlCol="false" tIns="0" lIns="0" bIns="0" rIns="0">
            <a:spAutoFit/>
          </a:bodyPr>
          <a:lstStyle/>
          <a:p>
            <a:pPr algn="l" marL="811177" indent="-405588" lvl="1">
              <a:lnSpc>
                <a:spcPts val="5260"/>
              </a:lnSpc>
              <a:buFont typeface="Arial"/>
              <a:buChar char="•"/>
            </a:pPr>
            <a:r>
              <a:rPr lang="en-US" sz="3757">
                <a:solidFill>
                  <a:srgbClr val="000000"/>
                </a:solidFill>
                <a:latin typeface="Koho"/>
                <a:ea typeface="Koho"/>
                <a:cs typeface="Koho"/>
                <a:sym typeface="Koho"/>
              </a:rPr>
              <a:t>Constant velocity transmission.</a:t>
            </a:r>
          </a:p>
          <a:p>
            <a:pPr algn="l" marL="811177" indent="-405588" lvl="1">
              <a:lnSpc>
                <a:spcPts val="5260"/>
              </a:lnSpc>
              <a:buFont typeface="Arial"/>
              <a:buChar char="•"/>
            </a:pPr>
            <a:r>
              <a:rPr lang="en-US" sz="3757">
                <a:solidFill>
                  <a:srgbClr val="000000"/>
                </a:solidFill>
                <a:latin typeface="Koho"/>
                <a:ea typeface="Koho"/>
                <a:cs typeface="Koho"/>
                <a:sym typeface="Koho"/>
              </a:rPr>
              <a:t>Handles slight parallel misalignment.</a:t>
            </a:r>
          </a:p>
          <a:p>
            <a:pPr algn="l" marL="811177" indent="-405588" lvl="1">
              <a:lnSpc>
                <a:spcPts val="5260"/>
              </a:lnSpc>
              <a:buFont typeface="Arial"/>
              <a:buChar char="•"/>
            </a:pPr>
            <a:r>
              <a:rPr lang="en-US" sz="3757">
                <a:solidFill>
                  <a:srgbClr val="000000"/>
                </a:solidFill>
                <a:latin typeface="Koho"/>
                <a:ea typeface="Koho"/>
                <a:cs typeface="Koho"/>
                <a:sym typeface="Koho"/>
              </a:rPr>
              <a:t>Compact design.</a:t>
            </a:r>
          </a:p>
          <a:p>
            <a:pPr algn="l" marL="811177" indent="-405588" lvl="1">
              <a:lnSpc>
                <a:spcPts val="5260"/>
              </a:lnSpc>
              <a:buFont typeface="Arial"/>
              <a:buChar char="•"/>
            </a:pPr>
            <a:r>
              <a:rPr lang="en-US" sz="3757">
                <a:solidFill>
                  <a:srgbClr val="000000"/>
                </a:solidFill>
                <a:latin typeface="Koho"/>
                <a:ea typeface="Koho"/>
                <a:cs typeface="Koho"/>
                <a:sym typeface="Koho"/>
              </a:rPr>
              <a:t>Low manufacturing cost.</a:t>
            </a:r>
          </a:p>
          <a:p>
            <a:pPr algn="l" marL="811177" indent="-405588" lvl="1">
              <a:lnSpc>
                <a:spcPts val="5260"/>
              </a:lnSpc>
              <a:buFont typeface="Arial"/>
              <a:buChar char="•"/>
            </a:pPr>
            <a:r>
              <a:rPr lang="en-US" sz="3757">
                <a:solidFill>
                  <a:srgbClr val="000000"/>
                </a:solidFill>
                <a:latin typeface="Koho"/>
                <a:ea typeface="Koho"/>
                <a:cs typeface="Koho"/>
                <a:sym typeface="Koho"/>
              </a:rPr>
              <a:t>Easy assembly.</a:t>
            </a:r>
          </a:p>
          <a:p>
            <a:pPr algn="l" marL="811177" indent="-405588" lvl="1">
              <a:lnSpc>
                <a:spcPts val="5260"/>
              </a:lnSpc>
              <a:buFont typeface="Arial"/>
              <a:buChar char="•"/>
            </a:pPr>
            <a:r>
              <a:rPr lang="en-US" sz="3757">
                <a:solidFill>
                  <a:srgbClr val="000000"/>
                </a:solidFill>
                <a:latin typeface="Koho"/>
                <a:ea typeface="Koho"/>
                <a:cs typeface="Koho"/>
                <a:sym typeface="Koho"/>
              </a:rPr>
              <a:t>Easy maintenance.</a:t>
            </a:r>
          </a:p>
          <a:p>
            <a:pPr algn="l" marL="811177" indent="-405588" lvl="1">
              <a:lnSpc>
                <a:spcPts val="5260"/>
              </a:lnSpc>
              <a:buFont typeface="Arial"/>
              <a:buChar char="•"/>
            </a:pPr>
            <a:r>
              <a:rPr lang="en-US" sz="3757">
                <a:solidFill>
                  <a:srgbClr val="000000"/>
                </a:solidFill>
                <a:latin typeface="Koho"/>
                <a:ea typeface="Koho"/>
                <a:cs typeface="Koho"/>
                <a:sym typeface="Koho"/>
              </a:rPr>
              <a:t>Smooth power transmission.</a:t>
            </a:r>
          </a:p>
          <a:p>
            <a:pPr algn="l" marL="811177" indent="-405588" lvl="1">
              <a:lnSpc>
                <a:spcPts val="5260"/>
              </a:lnSpc>
              <a:buFont typeface="Arial"/>
              <a:buChar char="•"/>
            </a:pPr>
            <a:r>
              <a:rPr lang="en-US" sz="3757">
                <a:solidFill>
                  <a:srgbClr val="000000"/>
                </a:solidFill>
                <a:latin typeface="Koho"/>
                <a:ea typeface="Koho"/>
                <a:cs typeface="Koho"/>
                <a:sym typeface="Koho"/>
              </a:rPr>
              <a:t>Suitable for precision applications.</a:t>
            </a:r>
          </a:p>
          <a:p>
            <a:pPr algn="l" marL="811177" indent="-405588" lvl="1">
              <a:lnSpc>
                <a:spcPts val="5260"/>
              </a:lnSpc>
              <a:buFont typeface="Arial"/>
              <a:buChar char="•"/>
            </a:pPr>
            <a:r>
              <a:rPr lang="en-US" sz="3757">
                <a:solidFill>
                  <a:srgbClr val="000000"/>
                </a:solidFill>
                <a:latin typeface="Koho"/>
                <a:ea typeface="Koho"/>
                <a:cs typeface="Koho"/>
                <a:sym typeface="Koho"/>
              </a:rPr>
              <a:t>Simple construction.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1937117"/>
            <a:ext cx="8493297"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CONCLUSION</a:t>
            </a:r>
          </a:p>
        </p:txBody>
      </p:sp>
      <p:sp>
        <p:nvSpPr>
          <p:cNvPr name="TextBox 14" id="14"/>
          <p:cNvSpPr txBox="true"/>
          <p:nvPr/>
        </p:nvSpPr>
        <p:spPr>
          <a:xfrm rot="0">
            <a:off x="2718540" y="3662761"/>
            <a:ext cx="12850921" cy="4778417"/>
          </a:xfrm>
          <a:prstGeom prst="rect">
            <a:avLst/>
          </a:prstGeom>
        </p:spPr>
        <p:txBody>
          <a:bodyPr anchor="t" rtlCol="false" tIns="0" lIns="0" bIns="0" rIns="0">
            <a:spAutoFit/>
          </a:bodyPr>
          <a:lstStyle/>
          <a:p>
            <a:pPr algn="just">
              <a:lnSpc>
                <a:spcPts val="5422"/>
              </a:lnSpc>
            </a:pPr>
            <a:r>
              <a:rPr lang="en-US" sz="3873">
                <a:solidFill>
                  <a:srgbClr val="000000"/>
                </a:solidFill>
                <a:latin typeface="Koho"/>
                <a:ea typeface="Koho"/>
                <a:cs typeface="Koho"/>
                <a:sym typeface="Koho"/>
              </a:rPr>
              <a:t>The design and fabrication of the Oldham's Coupling successfully demonstrated constant velocity transmission between two parallel misaligned shafts. The prototype validated the working principle of the coupling and provided practical knowledge of mechanical design, fabrication, assembly, and testing, reinforcing the theoretical concepts learned in the Theory of Machines course.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97351" y="2559915"/>
            <a:ext cx="8493297"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FUTURE WORKS</a:t>
            </a:r>
          </a:p>
        </p:txBody>
      </p:sp>
      <p:sp>
        <p:nvSpPr>
          <p:cNvPr name="TextBox 14" id="14"/>
          <p:cNvSpPr txBox="true"/>
          <p:nvPr/>
        </p:nvSpPr>
        <p:spPr>
          <a:xfrm rot="0">
            <a:off x="3533266" y="4188373"/>
            <a:ext cx="11221469" cy="4092617"/>
          </a:xfrm>
          <a:prstGeom prst="rect">
            <a:avLst/>
          </a:prstGeom>
        </p:spPr>
        <p:txBody>
          <a:bodyPr anchor="t" rtlCol="false" tIns="0" lIns="0" bIns="0" rIns="0">
            <a:spAutoFit/>
          </a:bodyPr>
          <a:lstStyle/>
          <a:p>
            <a:pPr algn="just">
              <a:lnSpc>
                <a:spcPts val="5422"/>
              </a:lnSpc>
            </a:pPr>
            <a:r>
              <a:rPr lang="en-US" sz="3873">
                <a:solidFill>
                  <a:srgbClr val="000000"/>
                </a:solidFill>
                <a:latin typeface="Koho"/>
                <a:ea typeface="Koho"/>
                <a:cs typeface="Koho"/>
                <a:sym typeface="Koho"/>
              </a:rPr>
              <a:t>Future work can include high-speed performance testing, vibration and stress analysis using FEA, wear and fatigue evaluation, and testing under different loading conditions. Using improved materials or self-lubricating components can further enhance the coupling's durability and efficiency.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34754" y="3954369"/>
            <a:ext cx="13018493" cy="2140138"/>
          </a:xfrm>
          <a:prstGeom prst="rect">
            <a:avLst/>
          </a:prstGeom>
        </p:spPr>
        <p:txBody>
          <a:bodyPr anchor="t" rtlCol="false" tIns="0" lIns="0" bIns="0" rIns="0">
            <a:spAutoFit/>
          </a:bodyPr>
          <a:lstStyle/>
          <a:p>
            <a:pPr algn="ctr">
              <a:lnSpc>
                <a:spcPts val="17489"/>
              </a:lnSpc>
            </a:pPr>
            <a:r>
              <a:rPr lang="en-US" b="true" sz="12492">
                <a:solidFill>
                  <a:srgbClr val="000000"/>
                </a:solidFill>
                <a:latin typeface="Aileron Bold"/>
                <a:ea typeface="Aileron Bold"/>
                <a:cs typeface="Aileron Bold"/>
                <a:sym typeface="Aileron Bold"/>
              </a:rPr>
              <a:t>THANK YOU!</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5057697" y="2623642"/>
            <a:ext cx="7417193" cy="1217008"/>
          </a:xfrm>
          <a:prstGeom prst="rect">
            <a:avLst/>
          </a:prstGeom>
        </p:spPr>
        <p:txBody>
          <a:bodyPr anchor="t" rtlCol="false" tIns="0" lIns="0" bIns="0" rIns="0">
            <a:spAutoFit/>
          </a:bodyPr>
          <a:lstStyle/>
          <a:p>
            <a:pPr algn="ctr">
              <a:lnSpc>
                <a:spcPts val="9964"/>
              </a:lnSpc>
            </a:pPr>
            <a:r>
              <a:rPr lang="en-US" b="true" sz="7117">
                <a:solidFill>
                  <a:srgbClr val="000000"/>
                </a:solidFill>
                <a:latin typeface="Aileron Bold"/>
                <a:ea typeface="Aileron Bold"/>
                <a:cs typeface="Aileron Bold"/>
                <a:sym typeface="Aileron Bold"/>
              </a:rPr>
              <a:t>REFERENCES</a:t>
            </a:r>
          </a:p>
        </p:txBody>
      </p:sp>
      <p:sp>
        <p:nvSpPr>
          <p:cNvPr name="TextBox 14" id="14"/>
          <p:cNvSpPr txBox="true"/>
          <p:nvPr/>
        </p:nvSpPr>
        <p:spPr>
          <a:xfrm rot="0">
            <a:off x="2634754" y="4105396"/>
            <a:ext cx="13231297" cy="3910827"/>
          </a:xfrm>
          <a:prstGeom prst="rect">
            <a:avLst/>
          </a:prstGeom>
        </p:spPr>
        <p:txBody>
          <a:bodyPr anchor="t" rtlCol="false" tIns="0" lIns="0" bIns="0" rIns="0">
            <a:spAutoFit/>
          </a:bodyPr>
          <a:lstStyle/>
          <a:p>
            <a:pPr algn="l" marL="658306" indent="-329153" lvl="1">
              <a:lnSpc>
                <a:spcPts val="6372"/>
              </a:lnSpc>
              <a:buAutoNum type="arabicPeriod" startAt="1"/>
            </a:pPr>
            <a:r>
              <a:rPr lang="en-US" sz="3049">
                <a:solidFill>
                  <a:srgbClr val="000000"/>
                </a:solidFill>
                <a:latin typeface="Aileron"/>
                <a:ea typeface="Aileron"/>
                <a:cs typeface="Aileron"/>
                <a:sym typeface="Aileron"/>
              </a:rPr>
              <a:t>OLDHAM, J. – HISTORICAL DEVELOPMENT OF OLDHAM'S COUPLING.</a:t>
            </a:r>
          </a:p>
          <a:p>
            <a:pPr algn="l" marL="658306" indent="-329153" lvl="1">
              <a:lnSpc>
                <a:spcPts val="6372"/>
              </a:lnSpc>
              <a:buAutoNum type="arabicPeriod" startAt="1"/>
            </a:pPr>
            <a:r>
              <a:rPr lang="en-US" sz="3049">
                <a:solidFill>
                  <a:srgbClr val="000000"/>
                </a:solidFill>
                <a:latin typeface="Aileron"/>
                <a:ea typeface="Aileron"/>
                <a:cs typeface="Aileron"/>
                <a:sym typeface="Aileron"/>
              </a:rPr>
              <a:t>NORTON, R. L. DESIGN OF MACHINERY.</a:t>
            </a:r>
          </a:p>
          <a:p>
            <a:pPr algn="l" marL="658306" indent="-329153" lvl="1">
              <a:lnSpc>
                <a:spcPts val="6372"/>
              </a:lnSpc>
              <a:buAutoNum type="arabicPeriod" startAt="1"/>
            </a:pPr>
            <a:r>
              <a:rPr lang="en-US" sz="3049">
                <a:solidFill>
                  <a:srgbClr val="000000"/>
                </a:solidFill>
                <a:latin typeface="Aileron"/>
                <a:ea typeface="Aileron"/>
                <a:cs typeface="Aileron"/>
                <a:sym typeface="Aileron"/>
              </a:rPr>
              <a:t>SHIGLEY &amp; MISCHKE. MECHANICAL ENGINEERING DESIGN.</a:t>
            </a:r>
          </a:p>
          <a:p>
            <a:pPr algn="l" marL="658306" indent="-329153" lvl="1">
              <a:lnSpc>
                <a:spcPts val="6372"/>
              </a:lnSpc>
              <a:buAutoNum type="arabicPeriod" startAt="1"/>
            </a:pPr>
            <a:r>
              <a:rPr lang="en-US" sz="3049">
                <a:solidFill>
                  <a:srgbClr val="000000"/>
                </a:solidFill>
                <a:latin typeface="Aileron"/>
                <a:ea typeface="Aileron"/>
                <a:cs typeface="Aileron"/>
                <a:sym typeface="Aileron"/>
              </a:rPr>
              <a:t>RATTAN, S. S. THEORY OF MACHINES.</a:t>
            </a:r>
          </a:p>
          <a:p>
            <a:pPr algn="l" marL="658306" indent="-329153" lvl="1">
              <a:lnSpc>
                <a:spcPts val="6372"/>
              </a:lnSpc>
              <a:buAutoNum type="arabicPeriod" startAt="1"/>
            </a:pPr>
            <a:r>
              <a:rPr lang="en-US" sz="3049">
                <a:solidFill>
                  <a:srgbClr val="000000"/>
                </a:solidFill>
                <a:latin typeface="Aileron"/>
                <a:ea typeface="Aileron"/>
                <a:cs typeface="Aileron"/>
                <a:sym typeface="Aileron"/>
              </a:rPr>
              <a:t>KHURMI &amp; GUPTA. THEORY OF MACHINES.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5400000">
            <a:off x="3560281" y="1898123"/>
            <a:ext cx="3495891" cy="7961444"/>
          </a:xfrm>
          <a:custGeom>
            <a:avLst/>
            <a:gdLst/>
            <a:ahLst/>
            <a:cxnLst/>
            <a:rect r="r" b="b" t="t" l="l"/>
            <a:pathLst>
              <a:path h="7961444" w="3495891">
                <a:moveTo>
                  <a:pt x="0" y="0"/>
                </a:moveTo>
                <a:lnTo>
                  <a:pt x="3495891" y="0"/>
                </a:lnTo>
                <a:lnTo>
                  <a:pt x="3495891" y="7961443"/>
                </a:lnTo>
                <a:lnTo>
                  <a:pt x="0" y="7961443"/>
                </a:lnTo>
                <a:lnTo>
                  <a:pt x="0" y="0"/>
                </a:lnTo>
                <a:close/>
              </a:path>
            </a:pathLst>
          </a:custGeom>
          <a:blipFill>
            <a:blip r:embed="rId14"/>
            <a:stretch>
              <a:fillRect l="-17164" t="0" r="-53638" b="0"/>
            </a:stretch>
          </a:blipFill>
        </p:spPr>
      </p:sp>
      <p:sp>
        <p:nvSpPr>
          <p:cNvPr name="Freeform 14" id="14"/>
          <p:cNvSpPr/>
          <p:nvPr/>
        </p:nvSpPr>
        <p:spPr>
          <a:xfrm flipH="false" flipV="false" rot="-5400000">
            <a:off x="9370866" y="1442277"/>
            <a:ext cx="6249554" cy="8332738"/>
          </a:xfrm>
          <a:custGeom>
            <a:avLst/>
            <a:gdLst/>
            <a:ahLst/>
            <a:cxnLst/>
            <a:rect r="r" b="b" t="t" l="l"/>
            <a:pathLst>
              <a:path h="8332738" w="6249554">
                <a:moveTo>
                  <a:pt x="0" y="0"/>
                </a:moveTo>
                <a:lnTo>
                  <a:pt x="6249554" y="0"/>
                </a:lnTo>
                <a:lnTo>
                  <a:pt x="6249554" y="8332738"/>
                </a:lnTo>
                <a:lnTo>
                  <a:pt x="0" y="8332738"/>
                </a:lnTo>
                <a:lnTo>
                  <a:pt x="0" y="0"/>
                </a:lnTo>
                <a:close/>
              </a:path>
            </a:pathLst>
          </a:custGeom>
          <a:blipFill>
            <a:blip r:embed="rId15"/>
            <a:stretch>
              <a:fillRect l="0" t="0" r="0" b="0"/>
            </a:stretch>
          </a:blipFill>
        </p:spPr>
      </p:sp>
      <p:sp>
        <p:nvSpPr>
          <p:cNvPr name="TextBox 15" id="15"/>
          <p:cNvSpPr txBox="true"/>
          <p:nvPr/>
        </p:nvSpPr>
        <p:spPr>
          <a:xfrm rot="0">
            <a:off x="5057697" y="1041039"/>
            <a:ext cx="7417193" cy="1217008"/>
          </a:xfrm>
          <a:prstGeom prst="rect">
            <a:avLst/>
          </a:prstGeom>
        </p:spPr>
        <p:txBody>
          <a:bodyPr anchor="t" rtlCol="false" tIns="0" lIns="0" bIns="0" rIns="0">
            <a:spAutoFit/>
          </a:bodyPr>
          <a:lstStyle/>
          <a:p>
            <a:pPr algn="ctr">
              <a:lnSpc>
                <a:spcPts val="9964"/>
              </a:lnSpc>
            </a:pPr>
            <a:r>
              <a:rPr lang="en-US" b="true" sz="7117">
                <a:solidFill>
                  <a:srgbClr val="000000"/>
                </a:solidFill>
                <a:latin typeface="Aileron Bold"/>
                <a:ea typeface="Aileron Bold"/>
                <a:cs typeface="Aileron Bold"/>
                <a:sym typeface="Aileron Bold"/>
              </a:rPr>
              <a:t>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DAHRSiUXieQ</dc:identifier>
  <dcterms:modified xsi:type="dcterms:W3CDTF">2011-08-01T06:04:30Z</dcterms:modified>
  <cp:revision>1</cp:revision>
  <dc:title>OLD HAM Mechanism</dc:title>
</cp:coreProperties>
</file>